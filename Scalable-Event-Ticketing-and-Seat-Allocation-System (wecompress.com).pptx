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Default ContentType="image/jpeg" Extension="jpeg"/>
  <Default ContentType="image/jpg" Extension="jpg"/>
  <Default ContentType="image/svg+xml" Extension="svg"/>
  <Default ContentType="image/png" Extension="png"/>
  <Default ContentType="image/gif" Extension="gif"/>
  <Default ContentType="video/mp4" Extension="m4v"/>
  <Default ContentType="video/mp4" Extension="mp4"/>
  <Default ContentType="application/vnd.openxmlformats-officedocument.vmlDrawing" Extension="vml"/>
  <Default ContentType="application/vnd.openxmlformats-officedocument.spreadsheetml.sheet" Extension="xlsx"/>
  <Override ContentType="application/vnd.openxmlformats-officedocument.presentationml.presentation.main+xml" PartName="/ppt/presentation.xml"/>
  <Override ContentType="application/vnd.openxmlformats-officedocument.presentationml.notesMaster+xml" PartName="/ppt/notesMasters/notesMaster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3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5.xml"/>
  <Override ContentType="application/vnd.openxmlformats-officedocument.presentationml.slideMaster+xml" PartName="/ppt/slideMasters/slideMaster6.xml"/>
  <Override ContentType="application/vnd.openxmlformats-officedocument.presentationml.slide+xml" PartName="/ppt/slides/slide6.xml"/>
  <Override ContentType="application/vnd.openxmlformats-officedocument.presentationml.slideMaster+xml" PartName="/ppt/slideMasters/slideMaster7.xml"/>
  <Override ContentType="application/vnd.openxmlformats-officedocument.presentationml.slide+xml" PartName="/ppt/slides/slide7.xml"/>
  <Override ContentType="application/vnd.openxmlformats-officedocument.presentationml.slideMaster+xml" PartName="/ppt/slideMasters/slideMaster8.xml"/>
  <Override ContentType="application/vnd.openxmlformats-officedocument.presentationml.slide+xml" PartName="/ppt/slides/slide8.xml"/>
  <Override ContentType="application/vnd.openxmlformats-officedocument.presentationml.slideMaster+xml" PartName="/ppt/slideMasters/slideMaster9.xml"/>
  <Override ContentType="application/vnd.openxmlformats-officedocument.presentationml.slide+xml" PartName="/ppt/slides/slide9.xml"/>
  <Override ContentType="application/vnd.openxmlformats-officedocument.presentationml.slideMaster+xml" PartName="/ppt/slideMasters/slideMaster10.xml"/>
  <Override ContentType="application/vnd.openxmlformats-officedocument.presentationml.slide+xml" PartName="/ppt/slides/slide10.xml"/>
  <Override ContentType="application/vnd.openxmlformats-officedocument.presentationml.slideMaster+xml" PartName="/ppt/slideMasters/slideMaster11.xml"/>
  <Override ContentType="application/vnd.openxmlformats-officedocument.presentationml.slide+xml" PartName="/ppt/slides/slide11.xml"/>
  <Override ContentType="application/vnd.openxmlformats-officedocument.presentationml.slideMaster+xml" PartName="/ppt/slideMasters/slideMaster12.xml"/>
  <Override ContentType="application/vnd.openxmlformats-officedocument.presentationml.slide+xml" PartName="/ppt/slides/slide12.xml"/>
  <Override ContentType="application/vnd.openxmlformats-officedocument.presentationml.slideMaster+xml" PartName="/ppt/slideMasters/slideMaster13.xml"/>
  <Override ContentType="application/vnd.openxmlformats-officedocument.presentationml.slide+xml" PartName="/ppt/slides/slide13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
		<Relationship Id="rId1" Target="docProps/app.xml" Type="http://schemas.openxmlformats.org/officeDocument/2006/relationships/extended-properties"/>
		<Relationship Id="rId2" Target="docProps/core.xml" Type="http://schemas.openxmlformats.org/package/2006/relationships/metadata/core-properties"/>
		<Relationship Id="rId3" Target="ppt/presentation.xml" Type="http://schemas.openxmlformats.org/officeDocument/2006/relationships/officeDocument"/>
		<Relationship Id="rId4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4630400" cy="8229600"/>
  <p:notesSz cx="8229600" cy="14630400"/>
  <p:embeddedFontLst>
    <p:embeddedFont>
      <p:font typeface="Roboto Slab"/>
      <p:regular r:id="rId20"/>
    </p:embeddedFont>
    <p:embeddedFont>
      <p:font typeface="Roboto Slab"/>
      <p:regular r:id="rId21"/>
    </p:embeddedFont>
    <p:embeddedFont>
      <p:font typeface="Roboto"/>
      <p:regular r:id="rId22"/>
    </p:embeddedFont>
    <p:embeddedFont>
      <p:font typeface="Roboto"/>
      <p:regular r:id="rId23"/>
    </p:embeddedFont>
    <p:embeddedFont>
      <p:font typeface="Roboto"/>
      <p:regular r:id="rId24"/>
    </p:embeddedFont>
    <p:embeddedFont>
      <p:font typeface="Roboto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arget="../media/image-1-1.jpeg" Type="http://schemas.openxmlformats.org/officeDocument/2006/relationships/image"/><Relationship Id="rId2" Target="../slideLayouts/slideLayout2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 ?><Relationships xmlns="http://schemas.openxmlformats.org/package/2006/relationships"><Relationship Id="rId1" Target="../media/image-2-1.jpeg" Type="http://schemas.openxmlformats.org/officeDocument/2006/relationships/image"/><Relationship Id="rId2" Target="../slideLayouts/slideLayout3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 ?><Relationships xmlns="http://schemas.openxmlformats.org/package/2006/relationships"><Relationship Id="rId1" Target="../media/image-4-1.jpeg" Type="http://schemas.openxmlformats.org/officeDocument/2006/relationships/image"/><Relationship Id="rId2" Target="../slideLayouts/slideLayout5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 ?><Relationships xmlns="http://schemas.openxmlformats.org/package/2006/relationships"><Relationship Id="rId1" Target="../media/image-5-1.png" Type="http://schemas.openxmlformats.org/officeDocument/2006/relationships/image"/><Relationship Id="rId2" Target="../media/image-5-2.png" Type="http://schemas.openxmlformats.org/officeDocument/2006/relationships/image"/><Relationship Id="rId3" Target="../media/image-5-3.png" Type="http://schemas.openxmlformats.org/officeDocument/2006/relationships/image"/><Relationship Id="rId4" Target="../media/image-5-4.png" Type="http://schemas.openxmlformats.org/officeDocument/2006/relationships/image"/><Relationship Id="rId5" Target="../media/image-5-5.png" Type="http://schemas.openxmlformats.org/officeDocument/2006/relationships/image"/><Relationship Id="rId6" Target="../media/image-5-6.jpeg" Type="http://schemas.openxmlformats.org/officeDocument/2006/relationships/image"/><Relationship Id="rId7" Target="../slideLayouts/slideLayout6.xml" Type="http://schemas.openxmlformats.org/officeDocument/2006/relationships/slideLayout"/><Relationship Id="rId8" Target="../notesSlides/notesSlide5.xml" Type="http://schemas.openxmlformats.org/officeDocument/2006/relationships/notesSlide"/></Relationships>
</file>

<file path=ppt/slides/_rels/slide6.xml.rels><?xml version="1.0" encoding="UTF-8" standalone="yes" ?><Relationships xmlns="http://schemas.openxmlformats.org/package/2006/relationships"><Relationship Id="rId1" Target="../media/image-6-1.jpeg" Type="http://schemas.openxmlformats.org/officeDocument/2006/relationships/image"/><Relationship Id="rId2" Target="../media/image-6-2.png" Type="http://schemas.openxmlformats.org/officeDocument/2006/relationships/image"/><Relationship Id="rId3" Target="../media/image-6-3.png" Type="http://schemas.openxmlformats.org/officeDocument/2006/relationships/image"/><Relationship Id="rId4" Target="../media/image-6-4.png" Type="http://schemas.openxmlformats.org/officeDocument/2006/relationships/image"/><Relationship Id="rId5" Target="../media/image-6-5.png" Type="http://schemas.openxmlformats.org/officeDocument/2006/relationships/image"/><Relationship Id="rId6" Target="../slideLayouts/slideLayout7.xml" Type="http://schemas.openxmlformats.org/officeDocument/2006/relationships/slideLayout"/><Relationship Id="rId7" Target="../notesSlides/notesSlide6.xml" Type="http://schemas.openxmlformats.org/officeDocument/2006/relationships/notesSlide"/></Relationships>
</file>

<file path=ppt/slides/_rels/slide7.xml.rels><?xml version="1.0" encoding="UTF-8" standalone="yes" ?><Relationships xmlns="http://schemas.openxmlformats.org/package/2006/relationships"><Relationship Id="rId1" Target="../media/image-7-1.jpeg" Type="http://schemas.openxmlformats.org/officeDocument/2006/relationships/image"/><Relationship Id="rId2" Target="../media/image-7-2.png" Type="http://schemas.openxmlformats.org/officeDocument/2006/relationships/image"/><Relationship Id="rId3" Target="../media/image-7-3.png" Type="http://schemas.openxmlformats.org/officeDocument/2006/relationships/image"/><Relationship Id="rId4" Target="../media/image-7-4.png" Type="http://schemas.openxmlformats.org/officeDocument/2006/relationships/image"/><Relationship Id="rId5" Target="../media/image-7-5.png" Type="http://schemas.openxmlformats.org/officeDocument/2006/relationships/image"/><Relationship Id="rId6" Target="../media/image-7-6.png" Type="http://schemas.openxmlformats.org/officeDocument/2006/relationships/image"/><Relationship Id="rId7" Target="../slideLayouts/slideLayout8.xml" Type="http://schemas.openxmlformats.org/officeDocument/2006/relationships/slideLayout"/><Relationship Id="rId8" Target="../notesSlides/notesSlide7.xml" Type="http://schemas.openxmlformats.org/officeDocument/2006/relationships/notesSlide"/></Relationships>
</file>

<file path=ppt/slides/_rels/slide8.xml.rels><?xml version="1.0" encoding="UTF-8" standalone="yes" ?><Relationships xmlns="http://schemas.openxmlformats.org/package/2006/relationships"><Relationship Id="rId1" Target="../media/image-8-1.jpeg" Type="http://schemas.openxmlformats.org/officeDocument/2006/relationships/image"/><Relationship Id="rId2" Target="../media/image-8-2.png" Type="http://schemas.openxmlformats.org/officeDocument/2006/relationships/image"/><Relationship Id="rId3" Target="../media/image-8-3.svg" Type="http://schemas.openxmlformats.org/officeDocument/2006/relationships/image"/><Relationship Id="rId4" Target="../media/image-8-4.png" Type="http://schemas.openxmlformats.org/officeDocument/2006/relationships/image"/><Relationship Id="rId5" Target="../media/image-8-5.svg" Type="http://schemas.openxmlformats.org/officeDocument/2006/relationships/image"/><Relationship Id="rId6" Target="../media/image-8-6.png" Type="http://schemas.openxmlformats.org/officeDocument/2006/relationships/image"/><Relationship Id="rId7" Target="../media/image-8-7.svg" Type="http://schemas.openxmlformats.org/officeDocument/2006/relationships/image"/><Relationship Id="rId8" Target="../media/image-8-8.png" Type="http://schemas.openxmlformats.org/officeDocument/2006/relationships/image"/><Relationship Id="rId9" Target="../media/image-8-9.svg" Type="http://schemas.openxmlformats.org/officeDocument/2006/relationships/image"/><Relationship Id="rId10" Target="../slideLayouts/slideLayout9.xml" Type="http://schemas.openxmlformats.org/officeDocument/2006/relationships/slideLayout"/><Relationship Id="rId11" Target="../notesSlides/notesSlide8.xml" Type="http://schemas.openxmlformats.org/officeDocument/2006/relationships/notesSlide"/></Relationships>
</file>

<file path=ppt/slides/_rels/slide9.xml.rels><?xml version="1.0" encoding="UTF-8" standalone="yes" ?><Relationships xmlns="http://schemas.openxmlformats.org/package/2006/relationships"><Relationship Id="rId1" Target="../media/image-9-1.jpeg" Type="http://schemas.openxmlformats.org/officeDocument/2006/relationships/image"/><Relationship Id="rId2" Target="../media/image-9-2.png" Type="http://schemas.openxmlformats.org/officeDocument/2006/relationships/image"/><Relationship Id="rId3" Target="../media/image-9-3.png" Type="http://schemas.openxmlformats.org/officeDocument/2006/relationships/image"/><Relationship Id="rId4" Target="../media/image-9-4.png" Type="http://schemas.openxmlformats.org/officeDocument/2006/relationships/image"/><Relationship Id="rId5" Target="../media/image-9-5.png" Type="http://schemas.openxmlformats.org/officeDocument/2006/relationships/image"/><Relationship Id="rId6" Target="../media/image-9-6.png" Type="http://schemas.openxmlformats.org/officeDocument/2006/relationships/image"/><Relationship Id="rId7" Target="../media/image-9-7.png" Type="http://schemas.openxmlformats.org/officeDocument/2006/relationships/image"/><Relationship Id="rId8" Target="../media/image-9-8.png" Type="http://schemas.openxmlformats.org/officeDocument/2006/relationships/image"/><Relationship Id="rId9" Target="../media/image-9-9.png" Type="http://schemas.openxmlformats.org/officeDocument/2006/relationships/image"/><Relationship Id="rId10" Target="../media/image-9-10.png" Type="http://schemas.openxmlformats.org/officeDocument/2006/relationships/image"/><Relationship Id="rId11" Target="../media/image-9-11.png" Type="http://schemas.openxmlformats.org/officeDocument/2006/relationships/image"/><Relationship Id="rId12" Target="../slideLayouts/slideLayout10.xml" Type="http://schemas.openxmlformats.org/officeDocument/2006/relationships/slideLayout"/><Relationship Id="rId13" Target="../notesSlides/notesSlide9.xml" Type="http://schemas.openxmlformats.org/officeDocument/2006/relationships/notesSlide"/></Relationships>
</file>

<file path=ppt/slides/_rels/slide10.xml.rels><?xml version="1.0" encoding="UTF-8" standalone="yes" ?><Relationships xmlns="http://schemas.openxmlformats.org/package/2006/relationships"><Relationship Id="rId1" Target="../media/image-10-1.jpeg" Type="http://schemas.openxmlformats.org/officeDocument/2006/relationships/image"/><Relationship Id="rId2" Target="../media/image-10-2.png" Type="http://schemas.openxmlformats.org/officeDocument/2006/relationships/image"/><Relationship Id="rId3" Target="../media/image-10-3.svg" Type="http://schemas.openxmlformats.org/officeDocument/2006/relationships/image"/><Relationship Id="rId4" Target="../media/image-10-4.png" Type="http://schemas.openxmlformats.org/officeDocument/2006/relationships/image"/><Relationship Id="rId5" Target="../media/image-10-5.svg" Type="http://schemas.openxmlformats.org/officeDocument/2006/relationships/image"/><Relationship Id="rId6" Target="../media/image-10-6.png" Type="http://schemas.openxmlformats.org/officeDocument/2006/relationships/image"/><Relationship Id="rId7" Target="../media/image-10-7.svg" Type="http://schemas.openxmlformats.org/officeDocument/2006/relationships/image"/><Relationship Id="rId8" Target="../media/image-10-8.png" Type="http://schemas.openxmlformats.org/officeDocument/2006/relationships/image"/><Relationship Id="rId9" Target="../media/image-10-9.svg" Type="http://schemas.openxmlformats.org/officeDocument/2006/relationships/image"/><Relationship Id="rId10" Target="../media/image-10-10.png" Type="http://schemas.openxmlformats.org/officeDocument/2006/relationships/image"/><Relationship Id="rId11" Target="../media/image-10-11.svg" Type="http://schemas.openxmlformats.org/officeDocument/2006/relationships/image"/><Relationship Id="rId12" Target="../slideLayouts/slideLayout11.xml" Type="http://schemas.openxmlformats.org/officeDocument/2006/relationships/slideLayout"/><Relationship Id="rId13" Target="../notesSlides/notesSlide10.xml" Type="http://schemas.openxmlformats.org/officeDocument/2006/relationships/notesSlide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 ?><Relationships xmlns="http://schemas.openxmlformats.org/package/2006/relationships"><Relationship Id="rId1" Target="../media/image-12-1.jpeg" Type="http://schemas.openxmlformats.org/officeDocument/2006/relationships/image"/><Relationship Id="rId2" Target="../slideLayouts/slideLayout13.xml" Type="http://schemas.openxmlformats.org/officeDocument/2006/relationships/slideLayout"/><Relationship Id="rId3" Target="../notesSlides/notesSlide12.xml" Type="http://schemas.openxmlformats.org/officeDocument/2006/relationships/notesSlide"/></Relationships>
</file>

<file path=ppt/slides/_rels/slide13.xml.rels><?xml version="1.0" encoding="UTF-8" standalone="yes" ?><Relationships xmlns="http://schemas.openxmlformats.org/package/2006/relationships"><Relationship Id="rId1" Target="../media/image-13-1.jpeg" Type="http://schemas.openxmlformats.org/officeDocument/2006/relationships/image"/><Relationship Id="rId2" Target="../slideLayouts/slideLayout14.xml" Type="http://schemas.openxmlformats.org/officeDocument/2006/relationships/slideLayout"/><Relationship Id="rId3" Target="../notesSlides/notesSlide13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640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Scalable Event Ticketing &amp; Seat Allocation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32173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high-scalability system design for handling millions of concurrent users during flash-sale events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30268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Ashmit Thakur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6836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Challenge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820472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Flash-sale ticketing platforms face critical issues when millions of users rush to purchase limited inventory: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750350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crash under massive traffic spikes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during high-demand events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19254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Overselling seats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creates customer frustration and legal issues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634746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architectures can't maintain consistency at scale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22446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Our Objective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93790" y="5876568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a distributed system comparable to Ticketmaster or BookMyShow that ensures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seat consistency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latency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scalability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with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oversells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guaranteed.</a:t>
            </a:r>
            <a:endParaRPr lang="en-US" sz="1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26808"/>
            <a:ext cx="67497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Performance Targets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02562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&lt;2s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842248" y="3434358"/>
            <a:ext cx="29510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p99 Checkout Latency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924776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 transaction completion under peak load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240256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&lt;100ms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1719" y="34343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p50 Browse Latency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5278" y="3924776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Instant event discovery and seat exploration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6884" y="240256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100K+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63326" y="34343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Concurrent Users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3924776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Massive scale during flash sales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788491" y="240256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5K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894933" y="34343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Reservations/sec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491" y="3924776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Sustained throughput capacity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4125278" y="5217557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99.95%</a:t>
            </a:r>
            <a:endParaRPr lang="en-US" sz="5850" dirty="0"/>
          </a:p>
        </p:txBody>
      </p:sp>
      <p:sp>
        <p:nvSpPr>
          <p:cNvPr id="16" name="Text 14"/>
          <p:cNvSpPr/>
          <p:nvPr/>
        </p:nvSpPr>
        <p:spPr>
          <a:xfrm>
            <a:off x="4231719" y="62493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Uptime SLA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125278" y="6739771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availability guarantee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456884" y="5217557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</a:t>
            </a:r>
            <a:endParaRPr lang="en-US" sz="5850" dirty="0"/>
          </a:p>
        </p:txBody>
      </p:sp>
      <p:sp>
        <p:nvSpPr>
          <p:cNvPr id="19" name="Text 17"/>
          <p:cNvSpPr/>
          <p:nvPr/>
        </p:nvSpPr>
        <p:spPr>
          <a:xfrm>
            <a:off x="7563326" y="62493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Oversells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56884" y="6739771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Perfect inventory consistency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1134" y="624364"/>
            <a:ext cx="5411986" cy="447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High-Level System Architecture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1134" y="1286351"/>
            <a:ext cx="3999309" cy="1053822"/>
          </a:xfrm>
          <a:prstGeom prst="roundRect">
            <a:avLst>
              <a:gd name="adj" fmla="val 2038"/>
            </a:avLst>
          </a:prstGeom>
          <a:solidFill>
            <a:srgbClr val="3F4652"/>
          </a:solidFill>
          <a:ln/>
        </p:spPr>
      </p:sp>
      <p:sp>
        <p:nvSpPr>
          <p:cNvPr id="5" name="Text 2"/>
          <p:cNvSpPr/>
          <p:nvPr/>
        </p:nvSpPr>
        <p:spPr>
          <a:xfrm>
            <a:off x="644247" y="1429464"/>
            <a:ext cx="1789748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API Gateway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4247" y="1738908"/>
            <a:ext cx="3713083" cy="45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Request routing, rate-limiting, authentication, and load balancing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643557" y="1286351"/>
            <a:ext cx="3999309" cy="1053822"/>
          </a:xfrm>
          <a:prstGeom prst="roundRect">
            <a:avLst>
              <a:gd name="adj" fmla="val 2038"/>
            </a:avLst>
          </a:prstGeom>
          <a:solidFill>
            <a:srgbClr val="3F4652"/>
          </a:solidFill>
          <a:ln/>
        </p:spPr>
      </p:sp>
      <p:sp>
        <p:nvSpPr>
          <p:cNvPr id="8" name="Text 5"/>
          <p:cNvSpPr/>
          <p:nvPr/>
        </p:nvSpPr>
        <p:spPr>
          <a:xfrm>
            <a:off x="4786670" y="1429464"/>
            <a:ext cx="1789748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Catalog Service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86670" y="1738908"/>
            <a:ext cx="3713083" cy="45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Event metadata with eventual consistency for high read throughput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1134" y="2483287"/>
            <a:ext cx="8141732" cy="824746"/>
          </a:xfrm>
          <a:prstGeom prst="roundRect">
            <a:avLst>
              <a:gd name="adj" fmla="val 2604"/>
            </a:avLst>
          </a:prstGeom>
          <a:solidFill>
            <a:srgbClr val="3F4652"/>
          </a:solidFill>
          <a:ln/>
        </p:spPr>
      </p:sp>
      <p:sp>
        <p:nvSpPr>
          <p:cNvPr id="11" name="Text 8"/>
          <p:cNvSpPr/>
          <p:nvPr/>
        </p:nvSpPr>
        <p:spPr>
          <a:xfrm>
            <a:off x="644247" y="2626400"/>
            <a:ext cx="1789748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Seat Map Service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4247" y="2935843"/>
            <a:ext cx="7855506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Cached real-time seat availability visualization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1134" y="3469005"/>
            <a:ext cx="3999309" cy="824746"/>
          </a:xfrm>
          <a:prstGeom prst="roundRect">
            <a:avLst>
              <a:gd name="adj" fmla="val 2604"/>
            </a:avLst>
          </a:prstGeom>
          <a:solidFill>
            <a:srgbClr val="3F4652"/>
          </a:solidFill>
          <a:ln/>
        </p:spPr>
      </p:sp>
      <p:sp>
        <p:nvSpPr>
          <p:cNvPr id="14" name="Text 11"/>
          <p:cNvSpPr/>
          <p:nvPr/>
        </p:nvSpPr>
        <p:spPr>
          <a:xfrm>
            <a:off x="644247" y="3612118"/>
            <a:ext cx="1789748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Reservation Service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4247" y="3921562"/>
            <a:ext cx="3713083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Temporary seat holds with strong consistency guarantees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43557" y="3469005"/>
            <a:ext cx="3999309" cy="824746"/>
          </a:xfrm>
          <a:prstGeom prst="roundRect">
            <a:avLst>
              <a:gd name="adj" fmla="val 2604"/>
            </a:avLst>
          </a:prstGeom>
          <a:solidFill>
            <a:srgbClr val="3F4652"/>
          </a:solidFill>
          <a:ln/>
        </p:spPr>
      </p:sp>
      <p:sp>
        <p:nvSpPr>
          <p:cNvPr id="17" name="Text 14"/>
          <p:cNvSpPr/>
          <p:nvPr/>
        </p:nvSpPr>
        <p:spPr>
          <a:xfrm>
            <a:off x="4786670" y="3612118"/>
            <a:ext cx="1789748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Allocation Service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786670" y="3921562"/>
            <a:ext cx="3713083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Finalizes purchases and coordinates payment processing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1134" y="4436864"/>
            <a:ext cx="8141732" cy="824746"/>
          </a:xfrm>
          <a:prstGeom prst="roundRect">
            <a:avLst>
              <a:gd name="adj" fmla="val 2604"/>
            </a:avLst>
          </a:prstGeom>
          <a:solidFill>
            <a:srgbClr val="3F4652"/>
          </a:solidFill>
          <a:ln/>
        </p:spPr>
      </p:sp>
      <p:sp>
        <p:nvSpPr>
          <p:cNvPr id="20" name="Text 17"/>
          <p:cNvSpPr/>
          <p:nvPr/>
        </p:nvSpPr>
        <p:spPr>
          <a:xfrm>
            <a:off x="644247" y="4579977"/>
            <a:ext cx="1789748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Payment Adapter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4247" y="4889421"/>
            <a:ext cx="7855506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Stripe/Razorpay integration with webhook handling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01134" y="5422583"/>
            <a:ext cx="3999309" cy="824746"/>
          </a:xfrm>
          <a:prstGeom prst="roundRect">
            <a:avLst>
              <a:gd name="adj" fmla="val 2604"/>
            </a:avLst>
          </a:prstGeom>
          <a:solidFill>
            <a:srgbClr val="3F4652"/>
          </a:solidFill>
          <a:ln/>
        </p:spPr>
      </p:sp>
      <p:sp>
        <p:nvSpPr>
          <p:cNvPr id="23" name="Text 20"/>
          <p:cNvSpPr/>
          <p:nvPr/>
        </p:nvSpPr>
        <p:spPr>
          <a:xfrm>
            <a:off x="644247" y="5565696"/>
            <a:ext cx="1789748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Orders Service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44247" y="5875139"/>
            <a:ext cx="3713083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Persistent storage of confirmed transactions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643557" y="5422583"/>
            <a:ext cx="3999309" cy="824746"/>
          </a:xfrm>
          <a:prstGeom prst="roundRect">
            <a:avLst>
              <a:gd name="adj" fmla="val 2604"/>
            </a:avLst>
          </a:prstGeom>
          <a:solidFill>
            <a:srgbClr val="3F4652"/>
          </a:solidFill>
          <a:ln/>
        </p:spPr>
      </p:sp>
      <p:sp>
        <p:nvSpPr>
          <p:cNvPr id="26" name="Text 23"/>
          <p:cNvSpPr/>
          <p:nvPr/>
        </p:nvSpPr>
        <p:spPr>
          <a:xfrm>
            <a:off x="4786670" y="5565696"/>
            <a:ext cx="1789748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Reservation Queue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786670" y="5875139"/>
            <a:ext cx="3713083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Asynchronous processing for flash-sale traffic smoothing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01134" y="6390442"/>
            <a:ext cx="8141732" cy="824746"/>
          </a:xfrm>
          <a:prstGeom prst="roundRect">
            <a:avLst>
              <a:gd name="adj" fmla="val 2604"/>
            </a:avLst>
          </a:prstGeom>
          <a:solidFill>
            <a:srgbClr val="3F4652"/>
          </a:solidFill>
          <a:ln/>
        </p:spPr>
      </p:sp>
      <p:sp>
        <p:nvSpPr>
          <p:cNvPr id="29" name="Text 26"/>
          <p:cNvSpPr/>
          <p:nvPr/>
        </p:nvSpPr>
        <p:spPr>
          <a:xfrm>
            <a:off x="644247" y="6533555"/>
            <a:ext cx="1789748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Workers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44247" y="6842998"/>
            <a:ext cx="7855506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Auto-scaling processors for queue consumption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01134" y="7376160"/>
            <a:ext cx="8141732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microservice architecture ensures independent scaling, fault isolation, and no single point of failure.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3163" y="426720"/>
            <a:ext cx="6239113" cy="484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Model &amp; Entity Relationships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43163" y="1299567"/>
            <a:ext cx="2328148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Core Entities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3163" y="1764983"/>
            <a:ext cx="7278767" cy="1002030"/>
          </a:xfrm>
          <a:prstGeom prst="roundRect">
            <a:avLst>
              <a:gd name="adj" fmla="val 10951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303" y="1764983"/>
            <a:ext cx="91440" cy="10020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9742" y="1942981"/>
            <a:ext cx="2072283" cy="242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Event → Venue → Seat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9742" y="2340650"/>
            <a:ext cx="6854190" cy="24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Hierarchical structure organizing event inventory by physical location and seating arrangements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3163" y="2922151"/>
            <a:ext cx="7278767" cy="1009650"/>
          </a:xfrm>
          <a:prstGeom prst="roundRect">
            <a:avLst>
              <a:gd name="adj" fmla="val 10868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03" y="2922151"/>
            <a:ext cx="91440" cy="10096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9742" y="3100149"/>
            <a:ext cx="1940123" cy="242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Inventory Table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89742" y="3497818"/>
            <a:ext cx="6854190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Tracks seat state per event: 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held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or 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sold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strong consistency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3163" y="4086939"/>
            <a:ext cx="7278767" cy="1002030"/>
          </a:xfrm>
          <a:prstGeom prst="roundRect">
            <a:avLst>
              <a:gd name="adj" fmla="val 10951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03" y="4086939"/>
            <a:ext cx="91440" cy="10020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89742" y="4264938"/>
            <a:ext cx="1940123" cy="242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Reservation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89742" y="4662607"/>
            <a:ext cx="6854190" cy="24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Temporary holds with expiration timestamps (5-15 min TTL)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3163" y="5244108"/>
            <a:ext cx="7278767" cy="1002030"/>
          </a:xfrm>
          <a:prstGeom prst="roundRect">
            <a:avLst>
              <a:gd name="adj" fmla="val 10951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03" y="5244108"/>
            <a:ext cx="91440" cy="100203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89742" y="5422106"/>
            <a:ext cx="1940123" cy="242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Order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89742" y="5819775"/>
            <a:ext cx="6854190" cy="24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Immutable record of completed purchases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3163" y="6401276"/>
            <a:ext cx="7278767" cy="1002030"/>
          </a:xfrm>
          <a:prstGeom prst="roundRect">
            <a:avLst>
              <a:gd name="adj" fmla="val 10951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303" y="6401276"/>
            <a:ext cx="91440" cy="100203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89742" y="6579275"/>
            <a:ext cx="1940123" cy="242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PaymentRecord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789742" y="6976943"/>
            <a:ext cx="6854190" cy="24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Reconciliation with payment provider transactions</a:t>
            </a:r>
            <a:endParaRPr lang="en-US" sz="12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8169" y="1318974"/>
            <a:ext cx="5886569" cy="588656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208169" y="7380089"/>
            <a:ext cx="5886569" cy="49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Inventory table enforces atomicity using </a:t>
            </a:r>
            <a:pPr algn="l"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Compare-and-Set (CAS)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operations, preventing double bookings even under concurrent access.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1363" y="518160"/>
            <a:ext cx="6431756" cy="584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Reservation &amp; Purchase Flow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363" y="1383625"/>
            <a:ext cx="935712" cy="13776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64122" y="1570673"/>
            <a:ext cx="2339340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Seat Selection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7264122" y="1975366"/>
            <a:ext cx="6711315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chooses seats → Reservation Service attempts atomic CAS lock on Inventory records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363" y="2761298"/>
            <a:ext cx="935712" cy="137767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264122" y="2948345"/>
            <a:ext cx="2339340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Hold Confirmation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7264122" y="3353038"/>
            <a:ext cx="6711315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Reservation ID returned with expiration timer (5-15 minutes). Seats temporarily unavailable to others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363" y="4138970"/>
            <a:ext cx="935712" cy="137767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64122" y="4326017"/>
            <a:ext cx="2339340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Payment Processing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7264122" y="4730710"/>
            <a:ext cx="6711315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commits purchase → Payment Adapter processes transaction via Stripe/Razorpay with idempotency keys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1363" y="5516642"/>
            <a:ext cx="935712" cy="138529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264122" y="5703689"/>
            <a:ext cx="2339340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Completion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7264122" y="6108383"/>
            <a:ext cx="6711315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 success → Seats marked 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sold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Inventory, Order record created, confirmation sent to user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6141363" y="7112437"/>
            <a:ext cx="7834074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CAS operation allows safe seat locking without global database locks, enabling horizontal scalability while maintaining zero oversells.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0440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2333" y="2493764"/>
            <a:ext cx="5284351" cy="511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Handling Flash Sale Traffic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72333" y="3070146"/>
            <a:ext cx="2452926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Scalability Strategies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33" y="3622000"/>
            <a:ext cx="4495205" cy="6540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5806" y="4439483"/>
            <a:ext cx="2044065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35806" y="4793099"/>
            <a:ext cx="4168259" cy="5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Gateway enforces per-user and global limits to prevent abuse.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538" y="3622000"/>
            <a:ext cx="4495205" cy="65401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31011" y="4439483"/>
            <a:ext cx="2044065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Admission Queue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5231011" y="4793099"/>
            <a:ext cx="4168259" cy="5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Redis/Kafka queue provides fair, first-come-first-served access during spikes.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2743" y="3622000"/>
            <a:ext cx="4495324" cy="65401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726216" y="4439483"/>
            <a:ext cx="2119551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Auto-Scaling Workers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9726216" y="4793099"/>
            <a:ext cx="4168378" cy="5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Kubernetes HPA dynamically scales reservation processors based on queue depth.</a:t>
            </a:r>
            <a:endParaRPr lang="en-US" sz="12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333" y="5479494"/>
            <a:ext cx="4495205" cy="65401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35806" y="6296978"/>
            <a:ext cx="2044065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Database Sharding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735806" y="6650593"/>
            <a:ext cx="4168259" cy="5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Event-based sharding prevents single-database bottlenecks.</a:t>
            </a:r>
            <a:endParaRPr lang="en-US" sz="12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7538" y="5479494"/>
            <a:ext cx="4495205" cy="65401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231011" y="6296978"/>
            <a:ext cx="2044065" cy="25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Aggressive Caching</a:t>
            </a:r>
            <a:endParaRPr lang="en-US" sz="1600" dirty="0"/>
          </a:p>
        </p:txBody>
      </p:sp>
      <p:sp>
        <p:nvSpPr>
          <p:cNvPr id="19" name="Text 11"/>
          <p:cNvSpPr/>
          <p:nvPr/>
        </p:nvSpPr>
        <p:spPr>
          <a:xfrm>
            <a:off x="5231011" y="6650593"/>
            <a:ext cx="4168259" cy="5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Redis caches seat maps and event metadata; CDN serves static assets.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572333" y="7520940"/>
            <a:ext cx="13485733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Queues smooth traffic spikes, transforming bursty flash-sale demand into sustained, manageable load for downstream services.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0053" y="804505"/>
            <a:ext cx="7407593" cy="583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Security &amp; Transaction Reliability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0053" y="1668304"/>
            <a:ext cx="560308" cy="5603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33724" y="1825823"/>
            <a:ext cx="2334578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PCI-DSS Compliance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933724" y="2229683"/>
            <a:ext cx="7043023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 data tokenized via Stripe/Razorpay — no sensitive card data stored in our systems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0053" y="3200876"/>
            <a:ext cx="560308" cy="5603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933724" y="3358396"/>
            <a:ext cx="2334578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Idempotency Keys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6933724" y="3762256"/>
            <a:ext cx="7043023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API request tagged with unique key prevents duplicate charges on retries or network failures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40053" y="4733449"/>
            <a:ext cx="560308" cy="5603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33724" y="4890968"/>
            <a:ext cx="2394109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Webhook Verification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6933724" y="5294828"/>
            <a:ext cx="7043023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 provider webhooks cryptographically verified and deduplicated to prevent replay attacks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40053" y="6266021"/>
            <a:ext cx="560308" cy="5603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933724" y="6423541"/>
            <a:ext cx="2334578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Admin Protection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6933724" y="6827401"/>
            <a:ext cx="7043023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Administrative actions restricted by VPN access, multi-factor authentication, and comprehensive audit logs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115258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835" y="311825"/>
            <a:ext cx="42961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Capacity Planning &amp; Monitoring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6835" y="711518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Capacity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932742" y="1646992"/>
            <a:ext cx="1032153" cy="209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5K/s</a:t>
            </a:r>
            <a:endParaRPr lang="en-US" sz="1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513" y="1122521"/>
            <a:ext cx="1258848" cy="12588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29859" y="2523053"/>
            <a:ext cx="143827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Reservation Requests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96835" y="2768203"/>
            <a:ext cx="410432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Sustained throughput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6178748" y="1646992"/>
            <a:ext cx="1032153" cy="209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2K/s</a:t>
            </a:r>
            <a:endParaRPr lang="en-US" sz="16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520" y="1122521"/>
            <a:ext cx="1258848" cy="12588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86224" y="252305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Commit Rate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642842" y="2768203"/>
            <a:ext cx="410432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second transaction processing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1932742" y="3729276"/>
            <a:ext cx="1032153" cy="209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8-16</a:t>
            </a:r>
            <a:endParaRPr lang="en-US" sz="16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513" y="3204805"/>
            <a:ext cx="1258848" cy="12588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740218" y="4605337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Database Shards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396835" y="4850487"/>
            <a:ext cx="410432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region allocation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6178748" y="3729276"/>
            <a:ext cx="1032153" cy="209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6-8</a:t>
            </a:r>
            <a:endParaRPr lang="en-US" sz="16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5520" y="3204805"/>
            <a:ext cx="1258848" cy="12588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986224" y="4605337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Redis Nodes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4642842" y="4850487"/>
            <a:ext cx="410432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Clustered for resilience</a:t>
            </a:r>
            <a:endParaRPr lang="en-US" sz="850" dirty="0"/>
          </a:p>
        </p:txBody>
      </p:sp>
      <p:sp>
        <p:nvSpPr>
          <p:cNvPr id="21" name="Text 14"/>
          <p:cNvSpPr/>
          <p:nvPr/>
        </p:nvSpPr>
        <p:spPr>
          <a:xfrm>
            <a:off x="4055745" y="5811560"/>
            <a:ext cx="1032153" cy="209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10+</a:t>
            </a:r>
            <a:endParaRPr lang="en-US" sz="16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2517" y="5287089"/>
            <a:ext cx="1258848" cy="125884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863221" y="6687622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Worker Instances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2519839" y="6932771"/>
            <a:ext cx="410432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Auto-scaled capacity</a:t>
            </a:r>
            <a:endParaRPr lang="en-US" sz="850" dirty="0"/>
          </a:p>
        </p:txBody>
      </p:sp>
      <p:sp>
        <p:nvSpPr>
          <p:cNvPr id="25" name="Text 17"/>
          <p:cNvSpPr/>
          <p:nvPr/>
        </p:nvSpPr>
        <p:spPr>
          <a:xfrm>
            <a:off x="396835" y="7284244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Critical Metrics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96835" y="7666911"/>
            <a:ext cx="4118491" cy="1106805"/>
          </a:xfrm>
          <a:prstGeom prst="roundRect">
            <a:avLst>
              <a:gd name="adj" fmla="val 1537"/>
            </a:avLst>
          </a:prstGeom>
          <a:solidFill>
            <a:srgbClr val="3F4652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7780258"/>
            <a:ext cx="340162" cy="34016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603891" y="8233767"/>
            <a:ext cx="1704380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Reservation Success Rate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510183" y="8478917"/>
            <a:ext cx="389179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Percentage of successful seat locks vs. conflicts</a:t>
            </a:r>
            <a:endParaRPr lang="en-US" sz="850" dirty="0"/>
          </a:p>
        </p:txBody>
      </p:sp>
      <p:sp>
        <p:nvSpPr>
          <p:cNvPr id="30" name="Shape 21"/>
          <p:cNvSpPr/>
          <p:nvPr/>
        </p:nvSpPr>
        <p:spPr>
          <a:xfrm>
            <a:off x="4628674" y="7666911"/>
            <a:ext cx="4118491" cy="1106805"/>
          </a:xfrm>
          <a:prstGeom prst="roundRect">
            <a:avLst>
              <a:gd name="adj" fmla="val 1537"/>
            </a:avLst>
          </a:prstGeom>
          <a:solidFill>
            <a:srgbClr val="3F4652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7838" y="7780258"/>
            <a:ext cx="340162" cy="34016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979081" y="8233767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Queue Depth</a:t>
            </a:r>
            <a:endParaRPr lang="en-US" sz="1100" dirty="0"/>
          </a:p>
        </p:txBody>
      </p:sp>
      <p:sp>
        <p:nvSpPr>
          <p:cNvPr id="33" name="Text 23"/>
          <p:cNvSpPr/>
          <p:nvPr/>
        </p:nvSpPr>
        <p:spPr>
          <a:xfrm>
            <a:off x="4742021" y="8478917"/>
            <a:ext cx="389179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Backlog size triggers auto-scaling events</a:t>
            </a:r>
            <a:endParaRPr lang="en-US" sz="850" dirty="0"/>
          </a:p>
        </p:txBody>
      </p:sp>
      <p:sp>
        <p:nvSpPr>
          <p:cNvPr id="34" name="Shape 24"/>
          <p:cNvSpPr/>
          <p:nvPr/>
        </p:nvSpPr>
        <p:spPr>
          <a:xfrm>
            <a:off x="396835" y="8887063"/>
            <a:ext cx="4118491" cy="1106805"/>
          </a:xfrm>
          <a:prstGeom prst="roundRect">
            <a:avLst>
              <a:gd name="adj" fmla="val 1537"/>
            </a:avLst>
          </a:prstGeom>
          <a:solidFill>
            <a:srgbClr val="3F4652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0" y="9000411"/>
            <a:ext cx="340162" cy="34016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1747242" y="945392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Oversell Counter</a:t>
            </a:r>
            <a:endParaRPr lang="en-US" sz="1100" dirty="0"/>
          </a:p>
        </p:txBody>
      </p:sp>
      <p:sp>
        <p:nvSpPr>
          <p:cNvPr id="37" name="Text 26"/>
          <p:cNvSpPr/>
          <p:nvPr/>
        </p:nvSpPr>
        <p:spPr>
          <a:xfrm>
            <a:off x="510183" y="9699069"/>
            <a:ext cx="389179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alerting on any consistency violations</a:t>
            </a:r>
            <a:endParaRPr lang="en-US" sz="850" dirty="0"/>
          </a:p>
        </p:txBody>
      </p:sp>
      <p:sp>
        <p:nvSpPr>
          <p:cNvPr id="38" name="Shape 27"/>
          <p:cNvSpPr/>
          <p:nvPr/>
        </p:nvSpPr>
        <p:spPr>
          <a:xfrm>
            <a:off x="4628674" y="8887063"/>
            <a:ext cx="4118491" cy="1106805"/>
          </a:xfrm>
          <a:prstGeom prst="roundRect">
            <a:avLst>
              <a:gd name="adj" fmla="val 1537"/>
            </a:avLst>
          </a:prstGeom>
          <a:solidFill>
            <a:srgbClr val="3F4652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7838" y="9000411"/>
            <a:ext cx="340162" cy="340162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5979081" y="945392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p99 Latency</a:t>
            </a:r>
            <a:endParaRPr lang="en-US" sz="1100" dirty="0"/>
          </a:p>
        </p:txBody>
      </p:sp>
      <p:sp>
        <p:nvSpPr>
          <p:cNvPr id="41" name="Text 29"/>
          <p:cNvSpPr/>
          <p:nvPr/>
        </p:nvSpPr>
        <p:spPr>
          <a:xfrm>
            <a:off x="4742021" y="9699069"/>
            <a:ext cx="389179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Tail latency tracking across all services</a:t>
            </a:r>
            <a:endParaRPr lang="en-US" sz="850" dirty="0"/>
          </a:p>
        </p:txBody>
      </p:sp>
      <p:sp>
        <p:nvSpPr>
          <p:cNvPr id="42" name="Shape 30"/>
          <p:cNvSpPr/>
          <p:nvPr/>
        </p:nvSpPr>
        <p:spPr>
          <a:xfrm>
            <a:off x="396835" y="10107216"/>
            <a:ext cx="8350329" cy="1106805"/>
          </a:xfrm>
          <a:prstGeom prst="roundRect">
            <a:avLst>
              <a:gd name="adj" fmla="val 1537"/>
            </a:avLst>
          </a:prstGeom>
          <a:solidFill>
            <a:srgbClr val="3F4652"/>
          </a:solidFill>
          <a:ln/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01860" y="10220563"/>
            <a:ext cx="340162" cy="340162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3820954" y="10674072"/>
            <a:ext cx="150209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Payment Success Rate</a:t>
            </a:r>
            <a:endParaRPr lang="en-US" sz="1100" dirty="0"/>
          </a:p>
        </p:txBody>
      </p:sp>
      <p:sp>
        <p:nvSpPr>
          <p:cNvPr id="45" name="Text 32"/>
          <p:cNvSpPr/>
          <p:nvPr/>
        </p:nvSpPr>
        <p:spPr>
          <a:xfrm>
            <a:off x="510183" y="10919222"/>
            <a:ext cx="812363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Transaction completion monitoring with provider reconciliation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03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5081" y="506849"/>
            <a:ext cx="6312098" cy="57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Testing Strategy &amp; Reliability</a:t>
            </a:r>
            <a:endParaRPr lang="en-US" sz="3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081" y="1359218"/>
            <a:ext cx="460772" cy="4607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5081" y="2050375"/>
            <a:ext cx="2303978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Load Test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45081" y="2448758"/>
            <a:ext cx="3811667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Simulate 20K RPS under flash load to ensure system stability and performance.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7133" y="1359218"/>
            <a:ext cx="460772" cy="46077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687133" y="2050375"/>
            <a:ext cx="2303978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Chaos Test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4687133" y="2448758"/>
            <a:ext cx="381178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Intentionally kill coordinator nodes mid-sale to test resilience and recovery mechanisms.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5081" y="3406973"/>
            <a:ext cx="460772" cy="46077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5081" y="4098131"/>
            <a:ext cx="2303978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Idempotency Test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645081" y="4496514"/>
            <a:ext cx="3811667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Verify the system can safely replay and re-process commits without unintended side effects.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87133" y="3406973"/>
            <a:ext cx="460772" cy="46077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687133" y="4098131"/>
            <a:ext cx="2303978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Reconciliation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4687133" y="4496514"/>
            <a:ext cx="3811786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Strictly verify no oversells or data inconsistencies occur during financial transactions.</a:t>
            </a:r>
            <a:endParaRPr lang="en-US" sz="14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5081" y="5749528"/>
            <a:ext cx="460772" cy="46077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45081" y="6440686"/>
            <a:ext cx="2303978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Integration</a:t>
            </a:r>
            <a:endParaRPr lang="en-US" sz="1800" dirty="0"/>
          </a:p>
        </p:txBody>
      </p:sp>
      <p:sp>
        <p:nvSpPr>
          <p:cNvPr id="18" name="Text 10"/>
          <p:cNvSpPr/>
          <p:nvPr/>
        </p:nvSpPr>
        <p:spPr>
          <a:xfrm>
            <a:off x="645081" y="6839069"/>
            <a:ext cx="3811667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 end-to-end testing of the complete checkout flow across all interconnected services.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0565" y="874633"/>
            <a:ext cx="7627858" cy="634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Design Tradeoffs &amp; Future Work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10565" y="1813441"/>
            <a:ext cx="3759875" cy="1616273"/>
          </a:xfrm>
          <a:prstGeom prst="roundRect">
            <a:avLst>
              <a:gd name="adj" fmla="val 1884"/>
            </a:avLst>
          </a:prstGeom>
          <a:solidFill>
            <a:srgbClr val="3F4652"/>
          </a:solidFill>
          <a:ln/>
        </p:spPr>
      </p:sp>
      <p:sp>
        <p:nvSpPr>
          <p:cNvPr id="5" name="Text 2"/>
          <p:cNvSpPr/>
          <p:nvPr/>
        </p:nvSpPr>
        <p:spPr>
          <a:xfrm>
            <a:off x="913567" y="2016442"/>
            <a:ext cx="2537698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Pessimistic Lock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3567" y="2455307"/>
            <a:ext cx="3353872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Pros:</a:t>
            </a:r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Easy correctness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13567" y="2901910"/>
            <a:ext cx="3353872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Cons:</a:t>
            </a:r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Low scalability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673441" y="1813441"/>
            <a:ext cx="3759994" cy="1616273"/>
          </a:xfrm>
          <a:prstGeom prst="roundRect">
            <a:avLst>
              <a:gd name="adj" fmla="val 1884"/>
            </a:avLst>
          </a:prstGeom>
          <a:solidFill>
            <a:srgbClr val="3F4652"/>
          </a:solidFill>
          <a:ln/>
        </p:spPr>
      </p:sp>
      <p:sp>
        <p:nvSpPr>
          <p:cNvPr id="9" name="Text 6"/>
          <p:cNvSpPr/>
          <p:nvPr/>
        </p:nvSpPr>
        <p:spPr>
          <a:xfrm>
            <a:off x="4876443" y="2016442"/>
            <a:ext cx="2537698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Optimistic CAS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876443" y="2455307"/>
            <a:ext cx="3353991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Pros:</a:t>
            </a:r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Scalable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876443" y="2901910"/>
            <a:ext cx="3353991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Cons:</a:t>
            </a:r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Retry logic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710565" y="3632716"/>
            <a:ext cx="7722870" cy="1616273"/>
          </a:xfrm>
          <a:prstGeom prst="roundRect">
            <a:avLst>
              <a:gd name="adj" fmla="val 1884"/>
            </a:avLst>
          </a:prstGeom>
          <a:solidFill>
            <a:srgbClr val="3F4652"/>
          </a:solidFill>
          <a:ln/>
        </p:spPr>
      </p:sp>
      <p:sp>
        <p:nvSpPr>
          <p:cNvPr id="13" name="Text 10"/>
          <p:cNvSpPr/>
          <p:nvPr/>
        </p:nvSpPr>
        <p:spPr>
          <a:xfrm>
            <a:off x="913567" y="3835718"/>
            <a:ext cx="2537698" cy="31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Eventual Catalog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913567" y="4274582"/>
            <a:ext cx="7316867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Pros:</a:t>
            </a:r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Fast reads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913567" y="4721185"/>
            <a:ext cx="7316867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Cons:</a:t>
            </a:r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Slight delay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10565" y="5553432"/>
            <a:ext cx="3045262" cy="380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Work:</a:t>
            </a:r>
            <a:endParaRPr lang="en-US" sz="2350" dirty="0"/>
          </a:p>
        </p:txBody>
      </p:sp>
      <p:sp>
        <p:nvSpPr>
          <p:cNvPr id="17" name="Text 14"/>
          <p:cNvSpPr/>
          <p:nvPr/>
        </p:nvSpPr>
        <p:spPr>
          <a:xfrm>
            <a:off x="710565" y="6238518"/>
            <a:ext cx="7722870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 pricing based on demand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710565" y="6634282"/>
            <a:ext cx="7722870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Seat recommendation using AI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710565" y="7030045"/>
            <a:ext cx="7722870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Blockchain-based ticket verification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511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0334" y="3533180"/>
            <a:ext cx="4401979" cy="550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Results &amp; Conclusion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770334" y="4523423"/>
            <a:ext cx="3066098" cy="7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700"/>
              </a:lnSpc>
              <a:buNone/>
            </a:pPr>
            <a:r>
              <a:rPr lang="en-US" sz="5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2s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927735" y="5524738"/>
            <a:ext cx="275117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P99 Latency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770334" y="6000631"/>
            <a:ext cx="3066098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Achieved under 2 seconds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111466" y="4523423"/>
            <a:ext cx="3066217" cy="7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700"/>
              </a:lnSpc>
              <a:buNone/>
            </a:pPr>
            <a:r>
              <a:rPr lang="en-US" sz="5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</a:t>
            </a:r>
            <a:endParaRPr lang="en-US" sz="5700" dirty="0"/>
          </a:p>
        </p:txBody>
      </p:sp>
      <p:sp>
        <p:nvSpPr>
          <p:cNvPr id="8" name="Text 5"/>
          <p:cNvSpPr/>
          <p:nvPr/>
        </p:nvSpPr>
        <p:spPr>
          <a:xfrm>
            <a:off x="4268986" y="5524738"/>
            <a:ext cx="275117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Oversells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4111466" y="6000631"/>
            <a:ext cx="3066217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Recorded during testing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452717" y="4523423"/>
            <a:ext cx="3066098" cy="7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700"/>
              </a:lnSpc>
              <a:buNone/>
            </a:pPr>
            <a:r>
              <a:rPr lang="en-US" sz="5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99.95%</a:t>
            </a:r>
            <a:endParaRPr lang="en-US" sz="5700" dirty="0"/>
          </a:p>
        </p:txBody>
      </p:sp>
      <p:sp>
        <p:nvSpPr>
          <p:cNvPr id="11" name="Text 8"/>
          <p:cNvSpPr/>
          <p:nvPr/>
        </p:nvSpPr>
        <p:spPr>
          <a:xfrm>
            <a:off x="7610118" y="5524738"/>
            <a:ext cx="275117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Uptime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7452717" y="6000631"/>
            <a:ext cx="3066098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Guaranteed system availability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0793849" y="4523423"/>
            <a:ext cx="3066217" cy="7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700"/>
              </a:lnSpc>
              <a:buNone/>
            </a:pPr>
            <a:r>
              <a:rPr lang="en-US" sz="5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100K</a:t>
            </a:r>
            <a:endParaRPr lang="en-US" sz="5700" dirty="0"/>
          </a:p>
        </p:txBody>
      </p:sp>
      <p:sp>
        <p:nvSpPr>
          <p:cNvPr id="14" name="Text 11"/>
          <p:cNvSpPr/>
          <p:nvPr/>
        </p:nvSpPr>
        <p:spPr>
          <a:xfrm>
            <a:off x="10951369" y="5524738"/>
            <a:ext cx="275117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Concurrent Users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0793849" y="6000631"/>
            <a:ext cx="3066217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Seamlessly supported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100376" y="6847880"/>
            <a:ext cx="12759690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“My system successfully meets real-world scalability goals — it’s modular, fast, and fault-tolerant.”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70334" y="6600349"/>
            <a:ext cx="30480" cy="847249"/>
          </a:xfrm>
          <a:prstGeom prst="rect">
            <a:avLst/>
          </a:prstGeom>
          <a:solidFill>
            <a:srgbClr val="66A8EE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11681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Thank You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4023955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appreciate your time and attention. We are confident that this solution will exceed your expectations and provide a robust, scalable foundation for your future endeavors.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2025-11-17T04:50:50Z</dcterms:created>
  <dcterms:modified xsi:type="dcterms:W3CDTF">2025-11-17T04:50:50Z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1180430</vt:lpwstr>
  </property>
  <property fmtid="{D5CDD505-2E9C-101B-9397-08002B2CF9AE}" name="NXPowerLiteSettings" pid="3">
    <vt:lpwstr>F7000400038000</vt:lpwstr>
  </property>
  <property fmtid="{D5CDD505-2E9C-101B-9397-08002B2CF9AE}" name="NXPowerLiteVersion" pid="4">
    <vt:lpwstr>S10.9.4</vt:lpwstr>
  </property>
</Properties>
</file>